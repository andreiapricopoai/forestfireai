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Buna ziua, numele este … iar in continuare va voi prezenta lucrarea mea de disertatie … realizata sub indrumarea doamnei Anca Ignat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7abe41325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e7abe41325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Pe slideul acesta am adaugat niste capturi de ecran din aplicatie ca si overview pentru ce urmeaza sa prezint mai departe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e7abe413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e7abe413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Aceste suntea punctele pe care le voi aborda in aceasta prezentare, voi incepe prin a spune motivatia din spatele acestei lucrari, apoi …</a:t>
            </a:r>
            <a:endParaRPr/>
          </a:p>
          <a:p>
            <a:pPr indent="0" lvl="0" marL="0" rtl="0" algn="l">
              <a:spcBef>
                <a:spcPts val="0"/>
              </a:spcBef>
              <a:spcAft>
                <a:spcPts val="0"/>
              </a:spcAft>
              <a:buNone/>
            </a:pPr>
            <a:r>
              <a:t/>
            </a:r>
            <a:endParaRPr/>
          </a:p>
          <a:p>
            <a:pPr indent="0" lvl="0" marL="0" rtl="0" algn="l">
              <a:spcBef>
                <a:spcPts val="0"/>
              </a:spcBef>
              <a:spcAft>
                <a:spcPts val="0"/>
              </a:spcAft>
              <a:buNone/>
            </a:pPr>
            <a:r>
              <a:rPr lang="ro"/>
              <a:t>1 min si 16 secunde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e7ad7858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e7ad7858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Vom incepe mai intai cu motivul pentru care am ales aceasta idee, in spate sunt 2 motive: faptul ca din researchul meu pe aceasta zona nu am vazut prea multe solutii implementate desi problema in cauza este una importanta iar al doilea motiv este ca incendiile forestiere sunt evenimente foarte grave care produc pagube materiale mari si nu numai iar spre exemplu in 2022, in EU au ars 700k de hecatare de teren, fiind cel mai rau sezon inregistrat</a:t>
            </a:r>
            <a:br>
              <a:rPr lang="ro"/>
            </a:br>
            <a:r>
              <a:rPr lang="ro"/>
              <a:t>Acest proiect este un proof of concept pentru faptul ca se poate realiza un astfel de sistem si dificultatile intalnite in implementarea lui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e7ad7858f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e7ad7858f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Acum voi vorbi putin despre niste solutii deja existente, mai intai avem metoda clasica prin care padurile sunt monitorizate de catre oameni, dezavantajele ar fi ca trebuie sa ai oameni care sa fie atenti mereu in perioadele de seceta unde reiscul e mare si ca intervin cosutri pentru a putea avea anagajai care sa monitrize non stop</a:t>
            </a:r>
            <a:endParaRPr/>
          </a:p>
          <a:p>
            <a:pPr indent="0" lvl="0" marL="0" rtl="0" algn="l">
              <a:spcBef>
                <a:spcPts val="0"/>
              </a:spcBef>
              <a:spcAft>
                <a:spcPts val="0"/>
              </a:spcAft>
              <a:buNone/>
            </a:pPr>
            <a:r>
              <a:t/>
            </a:r>
            <a:endParaRPr/>
          </a:p>
          <a:p>
            <a:pPr indent="0" lvl="0" marL="0" rtl="0" algn="l">
              <a:spcBef>
                <a:spcPts val="0"/>
              </a:spcBef>
              <a:spcAft>
                <a:spcPts val="0"/>
              </a:spcAft>
              <a:buNone/>
            </a:pPr>
            <a:r>
              <a:rPr lang="ro"/>
              <a:t>PanoAi este cumva similar cu aplicatia dezvoltata de mine in sensul in care foloseste AI pentru a detecta foc si fum si ca foloseste camere reale pentru monitoriza doar ca este un produs propiru, privat si inafara de cateva videoclipuri de pe youtube si stiri, nu am putut afla mai multe despre um e conceput sistemul si tehnologiile deci este mai mult un black box care nu poate fi studiat</a:t>
            </a:r>
            <a:endParaRPr/>
          </a:p>
          <a:p>
            <a:pPr indent="0" lvl="0" marL="0" rtl="0" algn="l">
              <a:spcBef>
                <a:spcPts val="0"/>
              </a:spcBef>
              <a:spcAft>
                <a:spcPts val="0"/>
              </a:spcAft>
              <a:buNone/>
            </a:pPr>
            <a:r>
              <a:t/>
            </a:r>
            <a:endParaRPr/>
          </a:p>
          <a:p>
            <a:pPr indent="0" lvl="0" marL="0" rtl="0" algn="l">
              <a:spcBef>
                <a:spcPts val="0"/>
              </a:spcBef>
              <a:spcAft>
                <a:spcPts val="0"/>
              </a:spcAft>
              <a:buNone/>
            </a:pPr>
            <a:r>
              <a:rPr lang="ro"/>
              <a:t>Dryad merge pe alta zona de detectare, el nu foloseste AI si camere, el foloseste niste senzori atasati in puncte cheie care detecteaza semnale chimicale din atmosfera pentu a detecta focul si fumul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0c308a77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0c308a77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Aici putem vedea solutiile de care vorbeam anterior</a:t>
            </a:r>
            <a:endParaRPr/>
          </a:p>
          <a:p>
            <a:pPr indent="0" lvl="0" marL="0" rtl="0" algn="l">
              <a:spcBef>
                <a:spcPts val="0"/>
              </a:spcBef>
              <a:spcAft>
                <a:spcPts val="0"/>
              </a:spcAft>
              <a:buNone/>
            </a:pPr>
            <a:r>
              <a:rPr lang="ro"/>
              <a:t>…</a:t>
            </a:r>
            <a:br>
              <a:rPr lang="ro"/>
            </a:br>
            <a:br>
              <a:rPr lang="ro"/>
            </a:br>
            <a:r>
              <a:rPr lang="ro"/>
              <a:t>5 minute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e7ad7858f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e7ad7858f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Mai departe o sa va prezin arihtecura sistemului si cum functioneaz el ca un intreg</a:t>
            </a:r>
            <a:br>
              <a:rPr lang="ro"/>
            </a:br>
            <a:br>
              <a:rPr lang="ro"/>
            </a:br>
            <a:r>
              <a:rPr lang="ro"/>
              <a:t>Sistemul este format din 4 componente: un worker Python care procesează video și rulează modelul de detecție, un server backend care gestionează datele și logica de alertă, și o interfață React prin care utilizatorii văd ce se întâmplă în timp real.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Workerul citește frame-uri din video la un interval configurat, le trece prin modelul YOLOv8, și salvează imaginea adnotată pe disk local în folderul snapshots, suprascriind mereu același fișier per cameră. Apoi trimite la backend un JSON cu metadatele detecției printr-un request HTTP autentificat cu un token partajat între cele două servicii. Imaginea în sine nu călătorește prin rețea, rămâne pe disk.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Backend-ul calculează nivelul de risc, actualizează baza de date, și emite un eveniment WebSocket de tip detection:new. Conexiunea WebSocket funcționează pe bază de rooms, câte un room per cameră, create dinamic. Fiecare client frontend se abonează doar la camerele vizibile pe ecranul lui în acel moment, și primește actualizări exclusiv pentru acelea. Dacă utilizatorul are cinci camere pe ecran, primește evenimente doar pentru acele cinci.</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Când frontentul primește evenimentul, actualizează store-ul Redux cu noul URL al snapshotului și face un request HTTP normal la backend pentru a încărca imaginea. Backend-ul o servește din folderul static snapshots direct în browser.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Dacă confidence-ul maxim pentru foc sau fum depășește 70% și au trecut cel puțin 5 minute de la ultima alertă pentru acea cameră, se generează o alertă. Snapshotul curent este copiat într-un folder separat alerts, se creează un document în baza de date, și se emite un eveniment alert:new exclusiv în room-ul admins, la care sunt conectați doar utilizatorii cu rol de administrator pe toată durata sesiunii lor.</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0c308a77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0c308a77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Colecția users stochează credențialele și rolul fiecărui utilizator. Rolul poate fi user, admin, sau worker, acesta din urmă fiind folosit de workerul Python pentru autentificare.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ro"/>
              <a:t>Colecția cameras este cea mai importantă. Pe lângă configurația camerei, conține embedded obiectul latestDetection cu ultima detecție primită, inclusiv lista de obiecte detectate cu clasă, confidence și coordonatele bounding box-ului. </a:t>
            </a:r>
            <a:endParaRPr/>
          </a:p>
          <a:p>
            <a:pPr indent="0" lvl="0" marL="0" rtl="0" algn="l">
              <a:spcBef>
                <a:spcPts val="0"/>
              </a:spcBef>
              <a:spcAft>
                <a:spcPts val="0"/>
              </a:spcAft>
              <a:buClr>
                <a:schemeClr val="dk1"/>
              </a:buClr>
              <a:buSzPts val="1100"/>
              <a:buFont typeface="Arial"/>
              <a:buNone/>
            </a:pPr>
            <a:r>
              <a:rPr lang="ro"/>
              <a:t>Am ales să stocăm doar ultima detecție, nu istoricul complet, pentru că frontend-ul are nevoie doar de cea mai recentă și stocarea tuturor ar fi inutilă.</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Colecția alerts stochează alertele permanent. Fiecare alertă referențiază camera din care provine prin cameraId și are un câmp status cu valorile pending, acknowledged sau resolved, care permite administratorilor să gestioneze ciclul de viață al alertelor.</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325a166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325a166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325a1665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325a1665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Aici am pus o captura de ecean care sa evidentieze modul in care au fost aplicate aceste labels pe imagini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325a1665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325a1665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Cel mai bun checkpoint a fost salvat la epoca 54 din 60. mAP@50 este metrica principală în object detection și reprezintă cât de bine găsește modelul obiectele și le localizează. Concret, o detecție este considerată corectă dacă bounding box-ul prezis de model se suprapune cel puțin 50% cu bounding box-ul din etichetă. Se calculează per clasă și se face media peste toate.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Focul a performat mai bine cu 0.544 față de fum cu 0.366. Diferența vine din natura celor două clase. Focul are culori vii, contrast mare față de fundal și o formă relativ consistentă. Fumul variază enorm în densitate, culoare și formă și poate arăta similar cu ceața sau norii, ceea ce face atât detectarea cât și etichetarea mai dificile.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Valoarea globală de 0.455 pare modestă, dar nu reflectă complet performanța reală. Etichetele au fost desenate manual de o singură persoană pe mii de imagini, ceea ce introduce inevitabil inconsistențe. Modelul este penalizat chiar și când detectează corect vizual, dacă bounding box-ul nu se aliniază suficient cu eticheta. Pe footage real de incendii de pădure din internet, modelul a detectat corect focul și fumul în marea majoritate a cazurilor și a produs foarte puține alarme false.</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325a1665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325a1665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o"/>
              <a:t>Graficul arată evoluția a patru metrici pe parcursul celor 80 de epoci de antrenare.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Linia roșie este mAP@50, pornește de la 0.19 la prima epocă și crește constant până în jurul epocii 50-55, unde atinge maximul de 0.455 marcat de linia punctată verticală. Aceea este epoca 54, checkpoint-ul salvat ca best. După aceea se stabilizează și ușor scade, ceea ce este normal și indică că modelul a absorbit ce putea din dataset.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Linia albastră este mAP@50-95, același calcul dar la praguri de suprapunere mult mai stricte. Rămâne constant sub 0.2 pe tot parcursul, ceea ce arată că modelul găsește obiectele dar nu le localizează foarte precis. Asta confirmă că problema principală vine din inconsistența etichetelor, nu din lipsa de antrenare, pentru că distanța față de mAP@50 rămâne constantă indiferent de câte epoci se antrenează.</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ro"/>
              <a:t>Liniile galbene și violet sunt precision și recall, fluctuează mai mult față de mAP pentru că sunt mai sensibile la pragul de confidence ales. Precision în jur de 0.5 înseamnă că aproximativ jumătate din detecțiile modelului sunt corecte, recall în jur de 0.485 înseamnă că modelul găsește aproximativ jumătate din obiectele reale din imagini.</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e7ad7858f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e7ad7858f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prezint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a86d558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a86d558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buliding the dataset : cleaning </a:t>
            </a:r>
            <a:endParaRPr/>
          </a:p>
          <a:p>
            <a:pPr indent="0" lvl="0" marL="0" rtl="0" algn="l">
              <a:spcBef>
                <a:spcPts val="0"/>
              </a:spcBef>
              <a:spcAft>
                <a:spcPts val="0"/>
              </a:spcAft>
              <a:buNone/>
            </a:pPr>
            <a:r>
              <a:rPr lang="ro"/>
              <a:t>labeling manual</a:t>
            </a:r>
            <a:endParaRPr/>
          </a:p>
          <a:p>
            <a:pPr indent="0" lvl="0" marL="0" rtl="0" algn="l">
              <a:spcBef>
                <a:spcPts val="0"/>
              </a:spcBef>
              <a:spcAft>
                <a:spcPts val="0"/>
              </a:spcAft>
              <a:buNone/>
            </a:pPr>
            <a:r>
              <a:rPr lang="ro"/>
              <a:t>fire an smoke vary in color and shape density si e o problema mai mare pentru un model de detetie</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7ad7858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e7ad7858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replace videos with cameras</a:t>
            </a:r>
            <a:endParaRPr/>
          </a:p>
          <a:p>
            <a:pPr indent="0" lvl="0" marL="0" rtl="0" algn="l">
              <a:spcBef>
                <a:spcPts val="0"/>
              </a:spcBef>
              <a:spcAft>
                <a:spcPts val="0"/>
              </a:spcAft>
              <a:buNone/>
            </a:pPr>
            <a:r>
              <a:rPr lang="ro"/>
              <a:t>deploy on cloud</a:t>
            </a:r>
            <a:endParaRPr/>
          </a:p>
          <a:p>
            <a:pPr indent="0" lvl="0" marL="0" rtl="0" algn="l">
              <a:spcBef>
                <a:spcPts val="0"/>
              </a:spcBef>
              <a:spcAft>
                <a:spcPts val="0"/>
              </a:spcAft>
              <a:buNone/>
            </a:pPr>
            <a:r>
              <a:rPr lang="ro"/>
              <a:t>improve model by improving the dataset and theaplied labels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e7ad7858f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e7ad7858f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DhMVmBkuEpA" TargetMode="Externa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66" name="Shape 66"/>
        <p:cNvGrpSpPr/>
        <p:nvPr/>
      </p:nvGrpSpPr>
      <p:grpSpPr>
        <a:xfrm>
          <a:off x="0" y="0"/>
          <a:ext cx="0" cy="0"/>
          <a:chOff x="0" y="0"/>
          <a:chExt cx="0" cy="0"/>
        </a:xfrm>
      </p:grpSpPr>
      <p:sp>
        <p:nvSpPr>
          <p:cNvPr id="67" name="Google Shape;67;p13"/>
          <p:cNvSpPr txBox="1"/>
          <p:nvPr/>
        </p:nvSpPr>
        <p:spPr>
          <a:xfrm>
            <a:off x="2906100" y="1160050"/>
            <a:ext cx="3941400" cy="792600"/>
          </a:xfrm>
          <a:prstGeom prst="rect">
            <a:avLst/>
          </a:prstGeom>
          <a:noFill/>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ro" sz="4000">
                <a:solidFill>
                  <a:srgbClr val="FFFFFF"/>
                </a:solidFill>
              </a:rPr>
              <a:t>ForestFireAI</a:t>
            </a:r>
            <a:endParaRPr sz="4000">
              <a:solidFill>
                <a:srgbClr val="FFFFFF"/>
              </a:solidFill>
            </a:endParaRPr>
          </a:p>
        </p:txBody>
      </p:sp>
      <p:sp>
        <p:nvSpPr>
          <p:cNvPr id="68" name="Google Shape;68;p13"/>
          <p:cNvSpPr txBox="1"/>
          <p:nvPr/>
        </p:nvSpPr>
        <p:spPr>
          <a:xfrm>
            <a:off x="1823400" y="2139350"/>
            <a:ext cx="6106800" cy="46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o" sz="2200">
                <a:solidFill>
                  <a:srgbClr val="FFFFFF"/>
                </a:solidFill>
              </a:rPr>
              <a:t>Real-time forest fire monitoring system in forest ecosystems</a:t>
            </a:r>
            <a:endParaRPr sz="2200">
              <a:solidFill>
                <a:srgbClr val="FFFFFF"/>
              </a:solidFill>
            </a:endParaRPr>
          </a:p>
        </p:txBody>
      </p:sp>
      <p:sp>
        <p:nvSpPr>
          <p:cNvPr id="69" name="Google Shape;69;p13"/>
          <p:cNvSpPr txBox="1"/>
          <p:nvPr/>
        </p:nvSpPr>
        <p:spPr>
          <a:xfrm>
            <a:off x="2011075" y="3643275"/>
            <a:ext cx="2331600" cy="46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o" sz="1800">
                <a:solidFill>
                  <a:srgbClr val="FFFFFF"/>
                </a:solidFill>
                <a:latin typeface="Roboto"/>
                <a:ea typeface="Roboto"/>
                <a:cs typeface="Roboto"/>
                <a:sym typeface="Roboto"/>
              </a:rPr>
              <a:t>Proposed by:</a:t>
            </a:r>
            <a:endParaRPr sz="1800">
              <a:solidFill>
                <a:srgbClr val="FFFFFF"/>
              </a:solidFill>
              <a:latin typeface="Roboto"/>
              <a:ea typeface="Roboto"/>
              <a:cs typeface="Roboto"/>
              <a:sym typeface="Roboto"/>
            </a:endParaRPr>
          </a:p>
          <a:p>
            <a:pPr indent="0" lvl="0" marL="0" rtl="0" algn="l">
              <a:spcBef>
                <a:spcPts val="0"/>
              </a:spcBef>
              <a:spcAft>
                <a:spcPts val="0"/>
              </a:spcAft>
              <a:buNone/>
            </a:pPr>
            <a:r>
              <a:t/>
            </a:r>
            <a:endParaRPr sz="1800">
              <a:solidFill>
                <a:srgbClr val="FFFFFF"/>
              </a:solidFill>
              <a:latin typeface="Roboto"/>
              <a:ea typeface="Roboto"/>
              <a:cs typeface="Roboto"/>
              <a:sym typeface="Roboto"/>
            </a:endParaRPr>
          </a:p>
        </p:txBody>
      </p:sp>
      <p:sp>
        <p:nvSpPr>
          <p:cNvPr id="70" name="Google Shape;70;p13"/>
          <p:cNvSpPr txBox="1"/>
          <p:nvPr/>
        </p:nvSpPr>
        <p:spPr>
          <a:xfrm>
            <a:off x="1344925" y="4106175"/>
            <a:ext cx="3663900" cy="5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ro" sz="1900">
                <a:solidFill>
                  <a:srgbClr val="FFFFFF"/>
                </a:solidFill>
                <a:latin typeface="Roboto"/>
                <a:ea typeface="Roboto"/>
                <a:cs typeface="Roboto"/>
                <a:sym typeface="Roboto"/>
              </a:rPr>
              <a:t>Apricopoai Andrei-Constantin</a:t>
            </a:r>
            <a:endParaRPr b="1" sz="1900">
              <a:solidFill>
                <a:srgbClr val="FFFFFF"/>
              </a:solidFill>
              <a:latin typeface="Roboto"/>
              <a:ea typeface="Roboto"/>
              <a:cs typeface="Roboto"/>
              <a:sym typeface="Roboto"/>
            </a:endParaRPr>
          </a:p>
        </p:txBody>
      </p:sp>
      <p:sp>
        <p:nvSpPr>
          <p:cNvPr id="71" name="Google Shape;71;p13"/>
          <p:cNvSpPr txBox="1"/>
          <p:nvPr/>
        </p:nvSpPr>
        <p:spPr>
          <a:xfrm>
            <a:off x="5682525" y="3643275"/>
            <a:ext cx="2566500" cy="4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o" sz="1800">
                <a:solidFill>
                  <a:srgbClr val="FFFFFF"/>
                </a:solidFill>
                <a:latin typeface="Roboto"/>
                <a:ea typeface="Roboto"/>
                <a:cs typeface="Roboto"/>
                <a:sym typeface="Roboto"/>
              </a:rPr>
              <a:t>Scientific coordinator:</a:t>
            </a:r>
            <a:endParaRPr sz="1800">
              <a:solidFill>
                <a:srgbClr val="FFFFFF"/>
              </a:solidFill>
              <a:latin typeface="Roboto"/>
              <a:ea typeface="Roboto"/>
              <a:cs typeface="Roboto"/>
              <a:sym typeface="Roboto"/>
            </a:endParaRPr>
          </a:p>
          <a:p>
            <a:pPr indent="0" lvl="0" marL="0" rtl="0" algn="l">
              <a:spcBef>
                <a:spcPts val="0"/>
              </a:spcBef>
              <a:spcAft>
                <a:spcPts val="0"/>
              </a:spcAft>
              <a:buNone/>
            </a:pPr>
            <a:r>
              <a:t/>
            </a:r>
            <a:endParaRPr sz="1800">
              <a:solidFill>
                <a:srgbClr val="FFFFFF"/>
              </a:solidFill>
              <a:latin typeface="Roboto"/>
              <a:ea typeface="Roboto"/>
              <a:cs typeface="Roboto"/>
              <a:sym typeface="Roboto"/>
            </a:endParaRPr>
          </a:p>
        </p:txBody>
      </p:sp>
      <p:sp>
        <p:nvSpPr>
          <p:cNvPr id="72" name="Google Shape;72;p13"/>
          <p:cNvSpPr txBox="1"/>
          <p:nvPr/>
        </p:nvSpPr>
        <p:spPr>
          <a:xfrm>
            <a:off x="5682525" y="4106175"/>
            <a:ext cx="2566500" cy="5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o" sz="1900">
                <a:solidFill>
                  <a:srgbClr val="FFFFFF"/>
                </a:solidFill>
                <a:latin typeface="Roboto"/>
                <a:ea typeface="Roboto"/>
                <a:cs typeface="Roboto"/>
                <a:sym typeface="Roboto"/>
              </a:rPr>
              <a:t>Conf. Dr. Ignat Anca</a:t>
            </a:r>
            <a:endParaRPr b="1" sz="19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o" sz="2300"/>
              <a:t>ForestFireAI</a:t>
            </a:r>
            <a:endParaRPr sz="2300"/>
          </a:p>
        </p:txBody>
      </p:sp>
      <p:pic>
        <p:nvPicPr>
          <p:cNvPr id="78" name="Google Shape;78;p14"/>
          <p:cNvPicPr preferRelativeResize="0"/>
          <p:nvPr/>
        </p:nvPicPr>
        <p:blipFill>
          <a:blip r:embed="rId3">
            <a:alphaModFix/>
          </a:blip>
          <a:stretch>
            <a:fillRect/>
          </a:stretch>
        </p:blipFill>
        <p:spPr>
          <a:xfrm>
            <a:off x="98250" y="1340750"/>
            <a:ext cx="4473751" cy="2736326"/>
          </a:xfrm>
          <a:prstGeom prst="rect">
            <a:avLst/>
          </a:prstGeom>
          <a:noFill/>
          <a:ln>
            <a:noFill/>
          </a:ln>
        </p:spPr>
      </p:pic>
      <p:pic>
        <p:nvPicPr>
          <p:cNvPr id="79" name="Google Shape;79;p14"/>
          <p:cNvPicPr preferRelativeResize="0"/>
          <p:nvPr/>
        </p:nvPicPr>
        <p:blipFill>
          <a:blip r:embed="rId4">
            <a:alphaModFix/>
          </a:blip>
          <a:stretch>
            <a:fillRect/>
          </a:stretch>
        </p:blipFill>
        <p:spPr>
          <a:xfrm>
            <a:off x="4636400" y="1340750"/>
            <a:ext cx="4414924" cy="2736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83" name="Shape 83"/>
        <p:cNvGrpSpPr/>
        <p:nvPr/>
      </p:nvGrpSpPr>
      <p:grpSpPr>
        <a:xfrm>
          <a:off x="0" y="0"/>
          <a:ext cx="0" cy="0"/>
          <a:chOff x="0" y="0"/>
          <a:chExt cx="0" cy="0"/>
        </a:xfrm>
      </p:grpSpPr>
      <p:sp>
        <p:nvSpPr>
          <p:cNvPr id="84" name="Google Shape;84;p15"/>
          <p:cNvSpPr txBox="1"/>
          <p:nvPr>
            <p:ph type="title"/>
          </p:nvPr>
        </p:nvSpPr>
        <p:spPr>
          <a:xfrm>
            <a:off x="223100" y="2183100"/>
            <a:ext cx="4045200" cy="777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o"/>
              <a:t>Overview</a:t>
            </a:r>
            <a:endParaRPr/>
          </a:p>
        </p:txBody>
      </p:sp>
      <p:sp>
        <p:nvSpPr>
          <p:cNvPr id="85" name="Google Shape;85;p15"/>
          <p:cNvSpPr txBox="1"/>
          <p:nvPr>
            <p:ph idx="2" type="body"/>
          </p:nvPr>
        </p:nvSpPr>
        <p:spPr>
          <a:xfrm>
            <a:off x="4939500" y="724200"/>
            <a:ext cx="3837000" cy="4071600"/>
          </a:xfrm>
          <a:prstGeom prst="rect">
            <a:avLst/>
          </a:prstGeom>
        </p:spPr>
        <p:txBody>
          <a:bodyPr anchorCtr="0" anchor="ctr" bIns="91425" lIns="91425" spcFirstLastPara="1" rIns="91425" wrap="square" tIns="91425">
            <a:normAutofit/>
          </a:bodyPr>
          <a:lstStyle/>
          <a:p>
            <a:pPr indent="-342900" lvl="0" marL="457200" rtl="0" algn="l">
              <a:lnSpc>
                <a:spcPct val="180000"/>
              </a:lnSpc>
              <a:spcBef>
                <a:spcPts val="0"/>
              </a:spcBef>
              <a:spcAft>
                <a:spcPts val="0"/>
              </a:spcAft>
              <a:buSzPts val="1800"/>
              <a:buChar char="●"/>
            </a:pPr>
            <a:r>
              <a:rPr b="1" lang="ro"/>
              <a:t>Motivation</a:t>
            </a:r>
            <a:endParaRPr b="1"/>
          </a:p>
          <a:p>
            <a:pPr indent="-342900" lvl="0" marL="457200" rtl="0" algn="l">
              <a:lnSpc>
                <a:spcPct val="180000"/>
              </a:lnSpc>
              <a:spcBef>
                <a:spcPts val="0"/>
              </a:spcBef>
              <a:spcAft>
                <a:spcPts val="0"/>
              </a:spcAft>
              <a:buSzPts val="1800"/>
              <a:buChar char="●"/>
            </a:pPr>
            <a:r>
              <a:rPr b="1" lang="ro"/>
              <a:t>Existing Solutions</a:t>
            </a:r>
            <a:endParaRPr b="1"/>
          </a:p>
          <a:p>
            <a:pPr indent="-342900" lvl="0" marL="457200" rtl="0" algn="l">
              <a:lnSpc>
                <a:spcPct val="180000"/>
              </a:lnSpc>
              <a:spcBef>
                <a:spcPts val="0"/>
              </a:spcBef>
              <a:spcAft>
                <a:spcPts val="0"/>
              </a:spcAft>
              <a:buSzPts val="1800"/>
              <a:buChar char="●"/>
            </a:pPr>
            <a:r>
              <a:rPr b="1" lang="ro"/>
              <a:t>System Architecture</a:t>
            </a:r>
            <a:endParaRPr b="1"/>
          </a:p>
          <a:p>
            <a:pPr indent="-342900" lvl="0" marL="457200" rtl="0" algn="l">
              <a:lnSpc>
                <a:spcPct val="180000"/>
              </a:lnSpc>
              <a:spcBef>
                <a:spcPts val="0"/>
              </a:spcBef>
              <a:spcAft>
                <a:spcPts val="0"/>
              </a:spcAft>
              <a:buSzPts val="1800"/>
              <a:buChar char="●"/>
            </a:pPr>
            <a:r>
              <a:rPr b="1" lang="ro"/>
              <a:t>Model Training</a:t>
            </a:r>
            <a:endParaRPr b="1"/>
          </a:p>
          <a:p>
            <a:pPr indent="-342900" lvl="0" marL="457200" rtl="0" algn="l">
              <a:lnSpc>
                <a:spcPct val="180000"/>
              </a:lnSpc>
              <a:spcBef>
                <a:spcPts val="0"/>
              </a:spcBef>
              <a:spcAft>
                <a:spcPts val="0"/>
              </a:spcAft>
              <a:buSzPts val="1800"/>
              <a:buChar char="●"/>
            </a:pPr>
            <a:r>
              <a:rPr b="1" lang="ro"/>
              <a:t>Results and Evaluation</a:t>
            </a:r>
            <a:endParaRPr b="1"/>
          </a:p>
          <a:p>
            <a:pPr indent="-342900" lvl="0" marL="457200" rtl="0" algn="l">
              <a:lnSpc>
                <a:spcPct val="180000"/>
              </a:lnSpc>
              <a:spcBef>
                <a:spcPts val="0"/>
              </a:spcBef>
              <a:spcAft>
                <a:spcPts val="0"/>
              </a:spcAft>
              <a:buSzPts val="1800"/>
              <a:buChar char="●"/>
            </a:pPr>
            <a:r>
              <a:rPr b="1" lang="ro"/>
              <a:t>Application Demo</a:t>
            </a:r>
            <a:endParaRPr b="1"/>
          </a:p>
          <a:p>
            <a:pPr indent="-342900" lvl="0" marL="457200" rtl="0" algn="l">
              <a:lnSpc>
                <a:spcPct val="180000"/>
              </a:lnSpc>
              <a:spcBef>
                <a:spcPts val="0"/>
              </a:spcBef>
              <a:spcAft>
                <a:spcPts val="0"/>
              </a:spcAft>
              <a:buSzPts val="1800"/>
              <a:buChar char="●"/>
            </a:pPr>
            <a:r>
              <a:rPr b="1" lang="ro"/>
              <a:t>Challenges</a:t>
            </a:r>
            <a:endParaRPr b="1"/>
          </a:p>
          <a:p>
            <a:pPr indent="-342900" lvl="0" marL="457200" rtl="0" algn="l">
              <a:lnSpc>
                <a:spcPct val="180000"/>
              </a:lnSpc>
              <a:spcBef>
                <a:spcPts val="0"/>
              </a:spcBef>
              <a:spcAft>
                <a:spcPts val="0"/>
              </a:spcAft>
              <a:buSzPts val="1800"/>
              <a:buChar char="●"/>
            </a:pPr>
            <a:r>
              <a:rPr b="1" lang="ro"/>
              <a:t>Future Work</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89" name="Shape 89"/>
        <p:cNvGrpSpPr/>
        <p:nvPr/>
      </p:nvGrpSpPr>
      <p:grpSpPr>
        <a:xfrm>
          <a:off x="0" y="0"/>
          <a:ext cx="0" cy="0"/>
          <a:chOff x="0" y="0"/>
          <a:chExt cx="0" cy="0"/>
        </a:xfrm>
      </p:grpSpPr>
      <p:sp>
        <p:nvSpPr>
          <p:cNvPr id="90" name="Google Shape;90;p16"/>
          <p:cNvSpPr txBox="1"/>
          <p:nvPr>
            <p:ph type="title"/>
          </p:nvPr>
        </p:nvSpPr>
        <p:spPr>
          <a:xfrm>
            <a:off x="372975" y="4561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t>Motivation</a:t>
            </a:r>
            <a:endParaRPr b="1"/>
          </a:p>
        </p:txBody>
      </p:sp>
      <p:sp>
        <p:nvSpPr>
          <p:cNvPr id="91" name="Google Shape;91;p16"/>
          <p:cNvSpPr txBox="1"/>
          <p:nvPr>
            <p:ph idx="1" type="body"/>
          </p:nvPr>
        </p:nvSpPr>
        <p:spPr>
          <a:xfrm>
            <a:off x="460950" y="2017975"/>
            <a:ext cx="8222100" cy="2710200"/>
          </a:xfrm>
          <a:prstGeom prst="rect">
            <a:avLst/>
          </a:prstGeom>
          <a:effectLst>
            <a:outerShdw blurRad="57150" rotWithShape="0" algn="bl" dir="5400000" dist="19050">
              <a:srgbClr val="000000">
                <a:alpha val="0"/>
              </a:srgbClr>
            </a:outerShdw>
          </a:effectLst>
        </p:spPr>
        <p:txBody>
          <a:bodyPr anchorCtr="0" anchor="t" bIns="522000" lIns="91425" spcFirstLastPara="1" rIns="216000" wrap="square" tIns="90000">
            <a:normAutofit lnSpcReduction="10000"/>
          </a:bodyPr>
          <a:lstStyle/>
          <a:p>
            <a:pPr indent="-344701" lvl="0" marL="460800" marR="0" rtl="0" algn="l">
              <a:lnSpc>
                <a:spcPct val="115000"/>
              </a:lnSpc>
              <a:spcBef>
                <a:spcPts val="1000"/>
              </a:spcBef>
              <a:spcAft>
                <a:spcPts val="0"/>
              </a:spcAft>
              <a:buSzPts val="1800"/>
              <a:buChar char="●"/>
            </a:pPr>
            <a:r>
              <a:rPr lang="ro"/>
              <a:t>Every year, millions of hectares of forest are destroyed by wildfires, causing damage to ecosystems and human communities</a:t>
            </a:r>
            <a:endParaRPr/>
          </a:p>
          <a:p>
            <a:pPr indent="-344701" lvl="0" marL="460800" marR="0" rtl="0" algn="l">
              <a:lnSpc>
                <a:spcPct val="115000"/>
              </a:lnSpc>
              <a:spcBef>
                <a:spcPts val="1000"/>
              </a:spcBef>
              <a:spcAft>
                <a:spcPts val="0"/>
              </a:spcAft>
              <a:buSzPts val="1800"/>
              <a:buChar char="●"/>
            </a:pPr>
            <a:r>
              <a:rPr lang="ro"/>
              <a:t>2022: over 700,000 hectares burned in the EU, worst season on record</a:t>
            </a:r>
            <a:endParaRPr/>
          </a:p>
          <a:p>
            <a:pPr indent="-344701" lvl="0" marL="460800" marR="0" rtl="0" algn="l">
              <a:lnSpc>
                <a:spcPct val="115000"/>
              </a:lnSpc>
              <a:spcBef>
                <a:spcPts val="1000"/>
              </a:spcBef>
              <a:spcAft>
                <a:spcPts val="0"/>
              </a:spcAft>
              <a:buSzPts val="1800"/>
              <a:buChar char="●"/>
            </a:pPr>
            <a:r>
              <a:rPr lang="ro"/>
              <a:t>Most wildfire monitoring today still relies on human observers</a:t>
            </a:r>
            <a:endParaRPr/>
          </a:p>
          <a:p>
            <a:pPr indent="-344701" lvl="0" marL="460800" marR="0" rtl="0" algn="l">
              <a:lnSpc>
                <a:spcPct val="115000"/>
              </a:lnSpc>
              <a:spcBef>
                <a:spcPts val="1000"/>
              </a:spcBef>
              <a:spcAft>
                <a:spcPts val="1000"/>
              </a:spcAft>
              <a:buSzPts val="1800"/>
              <a:buChar char="●"/>
            </a:pPr>
            <a:r>
              <a:rPr lang="ro"/>
              <a:t>This project explores building a real-time detection system using open-source technologies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95" name="Shape 95"/>
        <p:cNvGrpSpPr/>
        <p:nvPr/>
      </p:nvGrpSpPr>
      <p:grpSpPr>
        <a:xfrm>
          <a:off x="0" y="0"/>
          <a:ext cx="0" cy="0"/>
          <a:chOff x="0" y="0"/>
          <a:chExt cx="0" cy="0"/>
        </a:xfrm>
      </p:grpSpPr>
      <p:sp>
        <p:nvSpPr>
          <p:cNvPr id="96" name="Google Shape;96;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Existing Solutions</a:t>
            </a:r>
            <a:endParaRPr b="1" sz="2000"/>
          </a:p>
        </p:txBody>
      </p:sp>
      <p:sp>
        <p:nvSpPr>
          <p:cNvPr id="97" name="Google Shape;97;p17"/>
          <p:cNvSpPr txBox="1"/>
          <p:nvPr>
            <p:ph idx="4294967295" type="body"/>
          </p:nvPr>
        </p:nvSpPr>
        <p:spPr>
          <a:xfrm>
            <a:off x="471900" y="1125875"/>
            <a:ext cx="8222100" cy="3503400"/>
          </a:xfrm>
          <a:prstGeom prst="rect">
            <a:avLst/>
          </a:prstGeom>
          <a:effectLst>
            <a:outerShdw blurRad="57150" rotWithShape="0" algn="bl" dir="5400000" dist="19050">
              <a:srgbClr val="000000">
                <a:alpha val="0"/>
              </a:srgbClr>
            </a:outerShdw>
          </a:effectLst>
        </p:spPr>
        <p:txBody>
          <a:bodyPr anchorCtr="0" anchor="t" bIns="522000" lIns="91425" spcFirstLastPara="1" rIns="216000" wrap="square" tIns="90000">
            <a:normAutofit/>
          </a:bodyPr>
          <a:lstStyle/>
          <a:p>
            <a:pPr indent="-344701" lvl="0" marL="460800" marR="0" rtl="0" algn="l">
              <a:lnSpc>
                <a:spcPct val="115000"/>
              </a:lnSpc>
              <a:spcBef>
                <a:spcPts val="1000"/>
              </a:spcBef>
              <a:spcAft>
                <a:spcPts val="0"/>
              </a:spcAft>
              <a:buSzPts val="1800"/>
              <a:buChar char="●"/>
            </a:pPr>
            <a:r>
              <a:rPr b="1" lang="ro"/>
              <a:t>Human Observers</a:t>
            </a:r>
            <a:r>
              <a:rPr lang="ro"/>
              <a:t> - fire lookout towers and camera networks monitored by personnel. Limited by attention, visibility, and continuous staffing costs</a:t>
            </a:r>
            <a:endParaRPr/>
          </a:p>
          <a:p>
            <a:pPr indent="-344701" lvl="0" marL="460800" marR="0" rtl="0" algn="l">
              <a:lnSpc>
                <a:spcPct val="115000"/>
              </a:lnSpc>
              <a:spcBef>
                <a:spcPts val="1000"/>
              </a:spcBef>
              <a:spcAft>
                <a:spcPts val="0"/>
              </a:spcAft>
              <a:buSzPts val="1800"/>
              <a:buChar char="●"/>
            </a:pPr>
            <a:r>
              <a:rPr b="1" lang="ro"/>
              <a:t>PanoAI</a:t>
            </a:r>
            <a:r>
              <a:rPr lang="ro"/>
              <a:t> - AI-powered camera network detecting smoke in real time. Commercial product, proprietary, not accessible for research</a:t>
            </a:r>
            <a:endParaRPr/>
          </a:p>
          <a:p>
            <a:pPr indent="-344701" lvl="0" marL="460800" marR="0" rtl="0" algn="l">
              <a:lnSpc>
                <a:spcPct val="115000"/>
              </a:lnSpc>
              <a:spcBef>
                <a:spcPts val="1000"/>
              </a:spcBef>
              <a:spcAft>
                <a:spcPts val="1000"/>
              </a:spcAft>
              <a:buSzPts val="1800"/>
              <a:buChar char="●"/>
            </a:pPr>
            <a:r>
              <a:rPr b="1" lang="ro"/>
              <a:t>Dryad</a:t>
            </a:r>
            <a:r>
              <a:rPr lang="ro"/>
              <a:t> - solar-powered sensors attached to trees detecting early chemical signs of fire. No visual confirmation, requires physical hardware installation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01" name="Shape 101"/>
        <p:cNvGrpSpPr/>
        <p:nvPr/>
      </p:nvGrpSpPr>
      <p:grpSpPr>
        <a:xfrm>
          <a:off x="0" y="0"/>
          <a:ext cx="0" cy="0"/>
          <a:chOff x="0" y="0"/>
          <a:chExt cx="0" cy="0"/>
        </a:xfrm>
      </p:grpSpPr>
      <p:sp>
        <p:nvSpPr>
          <p:cNvPr id="102" name="Google Shape;102;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Existing Solutions</a:t>
            </a:r>
            <a:endParaRPr b="1" sz="2000"/>
          </a:p>
        </p:txBody>
      </p:sp>
      <p:pic>
        <p:nvPicPr>
          <p:cNvPr id="103" name="Google Shape;103;p18"/>
          <p:cNvPicPr preferRelativeResize="0"/>
          <p:nvPr/>
        </p:nvPicPr>
        <p:blipFill>
          <a:blip r:embed="rId3">
            <a:alphaModFix/>
          </a:blip>
          <a:stretch>
            <a:fillRect/>
          </a:stretch>
        </p:blipFill>
        <p:spPr>
          <a:xfrm>
            <a:off x="871500" y="761450"/>
            <a:ext cx="3464650" cy="1927350"/>
          </a:xfrm>
          <a:prstGeom prst="rect">
            <a:avLst/>
          </a:prstGeom>
          <a:noFill/>
          <a:ln>
            <a:noFill/>
          </a:ln>
        </p:spPr>
      </p:pic>
      <p:pic>
        <p:nvPicPr>
          <p:cNvPr id="104" name="Google Shape;104;p18"/>
          <p:cNvPicPr preferRelativeResize="0"/>
          <p:nvPr/>
        </p:nvPicPr>
        <p:blipFill>
          <a:blip r:embed="rId4">
            <a:alphaModFix/>
          </a:blip>
          <a:stretch>
            <a:fillRect/>
          </a:stretch>
        </p:blipFill>
        <p:spPr>
          <a:xfrm>
            <a:off x="4847575" y="761450"/>
            <a:ext cx="3567225" cy="1927350"/>
          </a:xfrm>
          <a:prstGeom prst="rect">
            <a:avLst/>
          </a:prstGeom>
          <a:noFill/>
          <a:ln>
            <a:noFill/>
          </a:ln>
        </p:spPr>
      </p:pic>
      <p:pic>
        <p:nvPicPr>
          <p:cNvPr id="105" name="Google Shape;105;p18"/>
          <p:cNvPicPr preferRelativeResize="0"/>
          <p:nvPr/>
        </p:nvPicPr>
        <p:blipFill>
          <a:blip r:embed="rId5">
            <a:alphaModFix/>
          </a:blip>
          <a:stretch>
            <a:fillRect/>
          </a:stretch>
        </p:blipFill>
        <p:spPr>
          <a:xfrm>
            <a:off x="3092987" y="2958675"/>
            <a:ext cx="2958033" cy="2034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09" name="Shape 109"/>
        <p:cNvGrpSpPr/>
        <p:nvPr/>
      </p:nvGrpSpPr>
      <p:grpSpPr>
        <a:xfrm>
          <a:off x="0" y="0"/>
          <a:ext cx="0" cy="0"/>
          <a:chOff x="0" y="0"/>
          <a:chExt cx="0" cy="0"/>
        </a:xfrm>
      </p:grpSpPr>
      <p:sp>
        <p:nvSpPr>
          <p:cNvPr id="110" name="Google Shape;110;p19"/>
          <p:cNvSpPr txBox="1"/>
          <p:nvPr>
            <p:ph type="title"/>
          </p:nvPr>
        </p:nvSpPr>
        <p:spPr>
          <a:xfrm>
            <a:off x="302850" y="56525"/>
            <a:ext cx="85383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System Architecture</a:t>
            </a:r>
            <a:endParaRPr b="1" sz="2000"/>
          </a:p>
        </p:txBody>
      </p:sp>
      <p:pic>
        <p:nvPicPr>
          <p:cNvPr id="111" name="Google Shape;111;p19"/>
          <p:cNvPicPr preferRelativeResize="0"/>
          <p:nvPr/>
        </p:nvPicPr>
        <p:blipFill>
          <a:blip r:embed="rId3">
            <a:alphaModFix/>
          </a:blip>
          <a:stretch>
            <a:fillRect/>
          </a:stretch>
        </p:blipFill>
        <p:spPr>
          <a:xfrm>
            <a:off x="929675" y="700800"/>
            <a:ext cx="7216151" cy="4381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15" name="Shape 115"/>
        <p:cNvGrpSpPr/>
        <p:nvPr/>
      </p:nvGrpSpPr>
      <p:grpSpPr>
        <a:xfrm>
          <a:off x="0" y="0"/>
          <a:ext cx="0" cy="0"/>
          <a:chOff x="0" y="0"/>
          <a:chExt cx="0" cy="0"/>
        </a:xfrm>
      </p:grpSpPr>
      <p:sp>
        <p:nvSpPr>
          <p:cNvPr id="116" name="Google Shape;116;p20"/>
          <p:cNvSpPr txBox="1"/>
          <p:nvPr>
            <p:ph type="title"/>
          </p:nvPr>
        </p:nvSpPr>
        <p:spPr>
          <a:xfrm>
            <a:off x="302850" y="56525"/>
            <a:ext cx="85383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System Architecture : database</a:t>
            </a:r>
            <a:endParaRPr b="1" sz="2000"/>
          </a:p>
        </p:txBody>
      </p:sp>
      <p:pic>
        <p:nvPicPr>
          <p:cNvPr id="117" name="Google Shape;117;p20"/>
          <p:cNvPicPr preferRelativeResize="0"/>
          <p:nvPr/>
        </p:nvPicPr>
        <p:blipFill>
          <a:blip r:embed="rId3">
            <a:alphaModFix/>
          </a:blip>
          <a:stretch>
            <a:fillRect/>
          </a:stretch>
        </p:blipFill>
        <p:spPr>
          <a:xfrm>
            <a:off x="1093400" y="785550"/>
            <a:ext cx="6957194" cy="4179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21" name="Shape 121"/>
        <p:cNvGrpSpPr/>
        <p:nvPr/>
      </p:nvGrpSpPr>
      <p:grpSpPr>
        <a:xfrm>
          <a:off x="0" y="0"/>
          <a:ext cx="0" cy="0"/>
          <a:chOff x="0" y="0"/>
          <a:chExt cx="0" cy="0"/>
        </a:xfrm>
      </p:grpSpPr>
      <p:sp>
        <p:nvSpPr>
          <p:cNvPr id="122" name="Google Shape;122;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Model Training</a:t>
            </a:r>
            <a:endParaRPr b="1" sz="2000"/>
          </a:p>
        </p:txBody>
      </p:sp>
      <p:sp>
        <p:nvSpPr>
          <p:cNvPr id="123" name="Google Shape;123;p21"/>
          <p:cNvSpPr txBox="1"/>
          <p:nvPr>
            <p:ph idx="4294967295" type="body"/>
          </p:nvPr>
        </p:nvSpPr>
        <p:spPr>
          <a:xfrm>
            <a:off x="400500" y="1037025"/>
            <a:ext cx="8222100" cy="3433200"/>
          </a:xfrm>
          <a:prstGeom prst="rect">
            <a:avLst/>
          </a:prstGeom>
          <a:effectLst>
            <a:outerShdw blurRad="57150" rotWithShape="0" algn="bl" dir="5400000" dist="19050">
              <a:srgbClr val="000000">
                <a:alpha val="0"/>
              </a:srgbClr>
            </a:outerShdw>
          </a:effectLst>
        </p:spPr>
        <p:txBody>
          <a:bodyPr anchorCtr="0" anchor="t" bIns="522000" lIns="91425" spcFirstLastPara="1" rIns="216000" wrap="square" tIns="90000">
            <a:noAutofit/>
          </a:bodyPr>
          <a:lstStyle/>
          <a:p>
            <a:pPr indent="-347221" lvl="0" marL="460800" marR="0" rtl="0" algn="l">
              <a:lnSpc>
                <a:spcPct val="95000"/>
              </a:lnSpc>
              <a:spcBef>
                <a:spcPts val="1000"/>
              </a:spcBef>
              <a:spcAft>
                <a:spcPts val="0"/>
              </a:spcAft>
              <a:buSzPts val="1840"/>
              <a:buChar char="●"/>
            </a:pPr>
            <a:r>
              <a:rPr lang="ro" sz="1840"/>
              <a:t>Combined multiple public datasets — ~7,800 images after cleaning and deduplication</a:t>
            </a:r>
            <a:endParaRPr sz="1840"/>
          </a:p>
          <a:p>
            <a:pPr indent="-347221" lvl="0" marL="460800" marR="0" rtl="0" algn="l">
              <a:lnSpc>
                <a:spcPct val="95000"/>
              </a:lnSpc>
              <a:spcBef>
                <a:spcPts val="1000"/>
              </a:spcBef>
              <a:spcAft>
                <a:spcPts val="0"/>
              </a:spcAft>
              <a:buSzPts val="1840"/>
              <a:buChar char="●"/>
            </a:pPr>
            <a:r>
              <a:rPr lang="ro" sz="1840"/>
              <a:t>Two classes: fire and smoke</a:t>
            </a:r>
            <a:endParaRPr sz="1840"/>
          </a:p>
          <a:p>
            <a:pPr indent="-347221" lvl="0" marL="460800" marR="0" rtl="0" algn="l">
              <a:lnSpc>
                <a:spcPct val="95000"/>
              </a:lnSpc>
              <a:spcBef>
                <a:spcPts val="1000"/>
              </a:spcBef>
              <a:spcAft>
                <a:spcPts val="0"/>
              </a:spcAft>
              <a:buSzPts val="1840"/>
              <a:buChar char="●"/>
            </a:pPr>
            <a:r>
              <a:rPr lang="ro" sz="1840"/>
              <a:t>Labeled using Roboflow (manual + semi-automated with label suggestions)</a:t>
            </a:r>
            <a:endParaRPr sz="1840"/>
          </a:p>
          <a:p>
            <a:pPr indent="-347221" lvl="0" marL="460800" marR="0" rtl="0" algn="l">
              <a:lnSpc>
                <a:spcPct val="95000"/>
              </a:lnSpc>
              <a:spcBef>
                <a:spcPts val="1000"/>
              </a:spcBef>
              <a:spcAft>
                <a:spcPts val="0"/>
              </a:spcAft>
              <a:buSzPts val="1840"/>
              <a:buChar char="●"/>
            </a:pPr>
            <a:r>
              <a:rPr lang="ro" sz="1840"/>
              <a:t>YOLOv8s pretrained on COCO as base model (transfer learning)</a:t>
            </a:r>
            <a:endParaRPr sz="1840"/>
          </a:p>
          <a:p>
            <a:pPr indent="-347221" lvl="0" marL="460800" marR="0" rtl="0" algn="l">
              <a:lnSpc>
                <a:spcPct val="95000"/>
              </a:lnSpc>
              <a:spcBef>
                <a:spcPts val="1000"/>
              </a:spcBef>
              <a:spcAft>
                <a:spcPts val="0"/>
              </a:spcAft>
              <a:buSzPts val="1840"/>
              <a:buChar char="●"/>
            </a:pPr>
            <a:r>
              <a:rPr lang="ro" sz="1840"/>
              <a:t>Trained on Kaggle — Tesla T4 GPU, 80 epochs</a:t>
            </a:r>
            <a:endParaRPr sz="1840"/>
          </a:p>
          <a:p>
            <a:pPr indent="-347221" lvl="0" marL="460800" marR="0" rtl="0" algn="l">
              <a:lnSpc>
                <a:spcPct val="95000"/>
              </a:lnSpc>
              <a:spcBef>
                <a:spcPts val="1000"/>
              </a:spcBef>
              <a:spcAft>
                <a:spcPts val="1000"/>
              </a:spcAft>
              <a:buSzPts val="1840"/>
              <a:buChar char="●"/>
            </a:pPr>
            <a:r>
              <a:rPr lang="ro" sz="1840"/>
              <a:t>Augmentations were added to the images during training</a:t>
            </a:r>
            <a:endParaRPr sz="184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27" name="Shape 127"/>
        <p:cNvGrpSpPr/>
        <p:nvPr/>
      </p:nvGrpSpPr>
      <p:grpSpPr>
        <a:xfrm>
          <a:off x="0" y="0"/>
          <a:ext cx="0" cy="0"/>
          <a:chOff x="0" y="0"/>
          <a:chExt cx="0" cy="0"/>
        </a:xfrm>
      </p:grpSpPr>
      <p:sp>
        <p:nvSpPr>
          <p:cNvPr id="128" name="Google Shape;128;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Model Training : labeling the images</a:t>
            </a:r>
            <a:endParaRPr b="1" sz="2000"/>
          </a:p>
        </p:txBody>
      </p:sp>
      <p:pic>
        <p:nvPicPr>
          <p:cNvPr id="129" name="Google Shape;129;p22"/>
          <p:cNvPicPr preferRelativeResize="0"/>
          <p:nvPr/>
        </p:nvPicPr>
        <p:blipFill>
          <a:blip r:embed="rId3">
            <a:alphaModFix/>
          </a:blip>
          <a:stretch>
            <a:fillRect/>
          </a:stretch>
        </p:blipFill>
        <p:spPr>
          <a:xfrm>
            <a:off x="152400" y="784475"/>
            <a:ext cx="8839200" cy="38943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33" name="Shape 133"/>
        <p:cNvGrpSpPr/>
        <p:nvPr/>
      </p:nvGrpSpPr>
      <p:grpSpPr>
        <a:xfrm>
          <a:off x="0" y="0"/>
          <a:ext cx="0" cy="0"/>
          <a:chOff x="0" y="0"/>
          <a:chExt cx="0" cy="0"/>
        </a:xfrm>
      </p:grpSpPr>
      <p:sp>
        <p:nvSpPr>
          <p:cNvPr id="134" name="Google Shape;134;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Results and Evaluation</a:t>
            </a:r>
            <a:endParaRPr b="1" sz="2000"/>
          </a:p>
        </p:txBody>
      </p:sp>
      <p:sp>
        <p:nvSpPr>
          <p:cNvPr id="135" name="Google Shape;135;p23"/>
          <p:cNvSpPr txBox="1"/>
          <p:nvPr>
            <p:ph idx="4294967295" type="body"/>
          </p:nvPr>
        </p:nvSpPr>
        <p:spPr>
          <a:xfrm>
            <a:off x="400500" y="1037025"/>
            <a:ext cx="8222100" cy="3433200"/>
          </a:xfrm>
          <a:prstGeom prst="rect">
            <a:avLst/>
          </a:prstGeom>
          <a:effectLst>
            <a:outerShdw blurRad="57150" rotWithShape="0" algn="bl" dir="5400000" dist="19050">
              <a:srgbClr val="000000">
                <a:alpha val="0"/>
              </a:srgbClr>
            </a:outerShdw>
          </a:effectLst>
        </p:spPr>
        <p:txBody>
          <a:bodyPr anchorCtr="0" anchor="t" bIns="522000" lIns="91425" spcFirstLastPara="1" rIns="216000" wrap="square" tIns="90000">
            <a:noAutofit/>
          </a:bodyPr>
          <a:lstStyle/>
          <a:p>
            <a:pPr indent="-347221" lvl="0" marL="460800" marR="0" rtl="0" algn="l">
              <a:lnSpc>
                <a:spcPct val="95000"/>
              </a:lnSpc>
              <a:spcBef>
                <a:spcPts val="1000"/>
              </a:spcBef>
              <a:spcAft>
                <a:spcPts val="0"/>
              </a:spcAft>
              <a:buSzPts val="1840"/>
              <a:buChar char="●"/>
            </a:pPr>
            <a:r>
              <a:rPr lang="ro" sz="1840"/>
              <a:t>Best checkpoint saved at epoch 54</a:t>
            </a:r>
            <a:endParaRPr sz="1840"/>
          </a:p>
          <a:p>
            <a:pPr indent="-347221" lvl="0" marL="460800" marR="0" rtl="0" algn="l">
              <a:lnSpc>
                <a:spcPct val="95000"/>
              </a:lnSpc>
              <a:spcBef>
                <a:spcPts val="1000"/>
              </a:spcBef>
              <a:spcAft>
                <a:spcPts val="0"/>
              </a:spcAft>
              <a:buSzPts val="1840"/>
              <a:buChar char="●"/>
            </a:pPr>
            <a:r>
              <a:rPr lang="ro" sz="1840"/>
              <a:t>mAP@50 — </a:t>
            </a:r>
            <a:r>
              <a:rPr b="1" lang="ro" sz="1840"/>
              <a:t>Fire: 0.544</a:t>
            </a:r>
            <a:r>
              <a:rPr lang="ro" sz="1840"/>
              <a:t> | </a:t>
            </a:r>
            <a:r>
              <a:rPr b="1" lang="ro" sz="1840"/>
              <a:t>Smoke: 0.366</a:t>
            </a:r>
            <a:r>
              <a:rPr lang="ro" sz="1840"/>
              <a:t> | </a:t>
            </a:r>
            <a:r>
              <a:rPr b="1" lang="ro" sz="1840"/>
              <a:t>Overall: 0.455</a:t>
            </a:r>
            <a:endParaRPr b="1" sz="1840"/>
          </a:p>
          <a:p>
            <a:pPr indent="-347221" lvl="0" marL="460800" marR="0" rtl="0" algn="l">
              <a:lnSpc>
                <a:spcPct val="95000"/>
              </a:lnSpc>
              <a:spcBef>
                <a:spcPts val="1000"/>
              </a:spcBef>
              <a:spcAft>
                <a:spcPts val="0"/>
              </a:spcAft>
              <a:buSzPts val="1840"/>
              <a:buChar char="●"/>
            </a:pPr>
            <a:r>
              <a:rPr lang="ro" sz="1840"/>
              <a:t>Fire performs better due to its consistent visual appearance</a:t>
            </a:r>
            <a:endParaRPr sz="1840"/>
          </a:p>
          <a:p>
            <a:pPr indent="-347221" lvl="0" marL="460800" marR="0" rtl="0" algn="l">
              <a:lnSpc>
                <a:spcPct val="95000"/>
              </a:lnSpc>
              <a:spcBef>
                <a:spcPts val="1000"/>
              </a:spcBef>
              <a:spcAft>
                <a:spcPts val="0"/>
              </a:spcAft>
              <a:buSzPts val="1840"/>
              <a:buChar char="●"/>
            </a:pPr>
            <a:r>
              <a:rPr lang="ro" sz="1840"/>
              <a:t>Smoke varies more in color, shape, and density = harder to detect reliably</a:t>
            </a:r>
            <a:endParaRPr sz="1840"/>
          </a:p>
          <a:p>
            <a:pPr indent="-347221" lvl="0" marL="460800" marR="0" rtl="0" algn="l">
              <a:lnSpc>
                <a:spcPct val="95000"/>
              </a:lnSpc>
              <a:spcBef>
                <a:spcPts val="1000"/>
              </a:spcBef>
              <a:spcAft>
                <a:spcPts val="1000"/>
              </a:spcAft>
              <a:buSzPts val="1840"/>
              <a:buChar char="●"/>
            </a:pPr>
            <a:r>
              <a:rPr lang="ro" sz="1840"/>
              <a:t>Practical performance on real video footage is better than metrics suggest</a:t>
            </a:r>
            <a:endParaRPr sz="184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39" name="Shape 139"/>
        <p:cNvGrpSpPr/>
        <p:nvPr/>
      </p:nvGrpSpPr>
      <p:grpSpPr>
        <a:xfrm>
          <a:off x="0" y="0"/>
          <a:ext cx="0" cy="0"/>
          <a:chOff x="0" y="0"/>
          <a:chExt cx="0" cy="0"/>
        </a:xfrm>
      </p:grpSpPr>
      <p:sp>
        <p:nvSpPr>
          <p:cNvPr id="140" name="Google Shape;140;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sz="2000"/>
              <a:t>Results and Evaluation</a:t>
            </a:r>
            <a:endParaRPr b="1" sz="2000"/>
          </a:p>
        </p:txBody>
      </p:sp>
      <p:pic>
        <p:nvPicPr>
          <p:cNvPr id="141" name="Google Shape;141;p24"/>
          <p:cNvPicPr preferRelativeResize="0"/>
          <p:nvPr/>
        </p:nvPicPr>
        <p:blipFill>
          <a:blip r:embed="rId3">
            <a:alphaModFix/>
          </a:blip>
          <a:stretch>
            <a:fillRect/>
          </a:stretch>
        </p:blipFill>
        <p:spPr>
          <a:xfrm>
            <a:off x="152400" y="771450"/>
            <a:ext cx="8697948" cy="4219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45" name="Shape 145"/>
        <p:cNvGrpSpPr/>
        <p:nvPr/>
      </p:nvGrpSpPr>
      <p:grpSpPr>
        <a:xfrm>
          <a:off x="0" y="0"/>
          <a:ext cx="0" cy="0"/>
          <a:chOff x="0" y="0"/>
          <a:chExt cx="0" cy="0"/>
        </a:xfrm>
      </p:grpSpPr>
      <p:sp>
        <p:nvSpPr>
          <p:cNvPr id="146" name="Google Shape;146;p25"/>
          <p:cNvSpPr txBox="1"/>
          <p:nvPr>
            <p:ph type="title"/>
          </p:nvPr>
        </p:nvSpPr>
        <p:spPr>
          <a:xfrm>
            <a:off x="344725" y="470225"/>
            <a:ext cx="8222100" cy="7677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1200"/>
              </a:spcAft>
              <a:buNone/>
            </a:pPr>
            <a:r>
              <a:rPr b="1" lang="ro"/>
              <a:t>Application Demo</a:t>
            </a:r>
            <a:endParaRPr/>
          </a:p>
        </p:txBody>
      </p:sp>
      <p:sp>
        <p:nvSpPr>
          <p:cNvPr id="147" name="Google Shape;147;p2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5" title="ForestFireAI - Dissertation Thesis Project">
            <a:hlinkClick r:id="rId3"/>
          </p:cNvPr>
          <p:cNvPicPr preferRelativeResize="0"/>
          <p:nvPr/>
        </p:nvPicPr>
        <p:blipFill>
          <a:blip r:embed="rId4">
            <a:alphaModFix/>
          </a:blip>
          <a:stretch>
            <a:fillRect/>
          </a:stretch>
        </p:blipFill>
        <p:spPr>
          <a:xfrm>
            <a:off x="2931775" y="24169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52" name="Shape 152"/>
        <p:cNvGrpSpPr/>
        <p:nvPr/>
      </p:nvGrpSpPr>
      <p:grpSpPr>
        <a:xfrm>
          <a:off x="0" y="0"/>
          <a:ext cx="0" cy="0"/>
          <a:chOff x="0" y="0"/>
          <a:chExt cx="0" cy="0"/>
        </a:xfrm>
      </p:grpSpPr>
      <p:sp>
        <p:nvSpPr>
          <p:cNvPr id="153" name="Google Shape;153;p26"/>
          <p:cNvSpPr txBox="1"/>
          <p:nvPr>
            <p:ph idx="1" type="body"/>
          </p:nvPr>
        </p:nvSpPr>
        <p:spPr>
          <a:xfrm>
            <a:off x="460950" y="1952750"/>
            <a:ext cx="8222100" cy="2946900"/>
          </a:xfrm>
          <a:prstGeom prst="rect">
            <a:avLst/>
          </a:prstGeom>
        </p:spPr>
        <p:txBody>
          <a:bodyPr anchorCtr="0" anchor="t" bIns="91425" lIns="91425" spcFirstLastPara="1" rIns="91425" wrap="square" tIns="91425">
            <a:normAutofit lnSpcReduction="10000"/>
          </a:bodyPr>
          <a:lstStyle/>
          <a:p>
            <a:pPr indent="-344701" lvl="0" marL="460800" rtl="0" algn="l">
              <a:spcBef>
                <a:spcPts val="1000"/>
              </a:spcBef>
              <a:spcAft>
                <a:spcPts val="0"/>
              </a:spcAft>
              <a:buSzPts val="1800"/>
              <a:buChar char="●"/>
            </a:pPr>
            <a:r>
              <a:rPr lang="ro"/>
              <a:t>Building and cleaning a training dataset from scratch</a:t>
            </a:r>
            <a:endParaRPr/>
          </a:p>
          <a:p>
            <a:pPr indent="-344701" lvl="0" marL="460800" rtl="0" algn="l">
              <a:spcBef>
                <a:spcPts val="1000"/>
              </a:spcBef>
              <a:spcAft>
                <a:spcPts val="0"/>
              </a:spcAft>
              <a:buSzPts val="1800"/>
              <a:buChar char="●"/>
            </a:pPr>
            <a:r>
              <a:rPr lang="ro"/>
              <a:t>Labeling thousands of images manually introduced inconsistencies that directly affected validation metrics</a:t>
            </a:r>
            <a:endParaRPr/>
          </a:p>
          <a:p>
            <a:pPr indent="-344701" lvl="0" marL="460800" rtl="0" algn="l">
              <a:spcBef>
                <a:spcPts val="1000"/>
              </a:spcBef>
              <a:spcAft>
                <a:spcPts val="0"/>
              </a:spcAft>
              <a:buSzPts val="1800"/>
              <a:buChar char="●"/>
            </a:pPr>
            <a:r>
              <a:rPr lang="ro"/>
              <a:t>Fire and especially smoke vary greatly in color, shape, and density, making consistent labeling difficult and the problem inherently harder for a model to learn</a:t>
            </a:r>
            <a:endParaRPr/>
          </a:p>
          <a:p>
            <a:pPr indent="-344701" lvl="0" marL="460800" rtl="0" algn="l">
              <a:spcBef>
                <a:spcPts val="1000"/>
              </a:spcBef>
              <a:spcAft>
                <a:spcPts val="1000"/>
              </a:spcAft>
              <a:buSzPts val="1800"/>
              <a:buChar char="●"/>
            </a:pPr>
            <a:r>
              <a:rPr lang="ro"/>
              <a:t>Designing the overall system architecture and deciding how the three components would communicate required more research effort</a:t>
            </a:r>
            <a:endParaRPr/>
          </a:p>
        </p:txBody>
      </p:sp>
      <p:sp>
        <p:nvSpPr>
          <p:cNvPr id="154" name="Google Shape;154;p26"/>
          <p:cNvSpPr txBox="1"/>
          <p:nvPr>
            <p:ph type="title"/>
          </p:nvPr>
        </p:nvSpPr>
        <p:spPr>
          <a:xfrm>
            <a:off x="288200" y="399600"/>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t>Challenges</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58" name="Shape 158"/>
        <p:cNvGrpSpPr/>
        <p:nvPr/>
      </p:nvGrpSpPr>
      <p:grpSpPr>
        <a:xfrm>
          <a:off x="0" y="0"/>
          <a:ext cx="0" cy="0"/>
          <a:chOff x="0" y="0"/>
          <a:chExt cx="0" cy="0"/>
        </a:xfrm>
      </p:grpSpPr>
      <p:sp>
        <p:nvSpPr>
          <p:cNvPr id="159" name="Google Shape;159;p27"/>
          <p:cNvSpPr txBox="1"/>
          <p:nvPr>
            <p:ph type="title"/>
          </p:nvPr>
        </p:nvSpPr>
        <p:spPr>
          <a:xfrm>
            <a:off x="288200" y="399600"/>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ro"/>
              <a:t>Future Work</a:t>
            </a:r>
            <a:endParaRPr b="1"/>
          </a:p>
        </p:txBody>
      </p:sp>
      <p:sp>
        <p:nvSpPr>
          <p:cNvPr id="160" name="Google Shape;160;p27"/>
          <p:cNvSpPr txBox="1"/>
          <p:nvPr>
            <p:ph idx="1" type="body"/>
          </p:nvPr>
        </p:nvSpPr>
        <p:spPr>
          <a:xfrm>
            <a:off x="460950" y="2116925"/>
            <a:ext cx="8222100" cy="2747400"/>
          </a:xfrm>
          <a:prstGeom prst="rect">
            <a:avLst/>
          </a:prstGeom>
        </p:spPr>
        <p:txBody>
          <a:bodyPr anchorCtr="0" anchor="t" bIns="91425" lIns="91425" spcFirstLastPara="1" rIns="91425" wrap="square" tIns="91425">
            <a:normAutofit/>
          </a:bodyPr>
          <a:lstStyle/>
          <a:p>
            <a:pPr indent="-344701" lvl="0" marL="460800" rtl="0" algn="l">
              <a:spcBef>
                <a:spcPts val="1000"/>
              </a:spcBef>
              <a:spcAft>
                <a:spcPts val="0"/>
              </a:spcAft>
              <a:buSzPts val="1800"/>
              <a:buChar char="●"/>
            </a:pPr>
            <a:r>
              <a:rPr lang="ro"/>
              <a:t>Replace video files with real camera hardware or live streams of images</a:t>
            </a:r>
            <a:endParaRPr/>
          </a:p>
          <a:p>
            <a:pPr indent="-344701" lvl="0" marL="460800" rtl="0" algn="l">
              <a:spcBef>
                <a:spcPts val="1000"/>
              </a:spcBef>
              <a:spcAft>
                <a:spcPts val="0"/>
              </a:spcAft>
              <a:buSzPts val="1800"/>
              <a:buChar char="●"/>
            </a:pPr>
            <a:r>
              <a:rPr lang="ro"/>
              <a:t>Improve the training dataset with more diverse, higher quality images to cover a wider range of real-world scenarios</a:t>
            </a:r>
            <a:endParaRPr/>
          </a:p>
          <a:p>
            <a:pPr indent="-344701" lvl="0" marL="460800" rtl="0" algn="l">
              <a:spcBef>
                <a:spcPts val="1000"/>
              </a:spcBef>
              <a:spcAft>
                <a:spcPts val="1000"/>
              </a:spcAft>
              <a:buSzPts val="1800"/>
              <a:buChar char="●"/>
            </a:pPr>
            <a:r>
              <a:rPr lang="ro"/>
              <a:t>Deploy the infrastructure on cloud and investigate how to scale the system for a larger user base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64" name="Shape 164"/>
        <p:cNvGrpSpPr/>
        <p:nvPr/>
      </p:nvGrpSpPr>
      <p:grpSpPr>
        <a:xfrm>
          <a:off x="0" y="0"/>
          <a:ext cx="0" cy="0"/>
          <a:chOff x="0" y="0"/>
          <a:chExt cx="0" cy="0"/>
        </a:xfrm>
      </p:grpSpPr>
      <p:sp>
        <p:nvSpPr>
          <p:cNvPr id="165" name="Google Shape;165;p28"/>
          <p:cNvSpPr txBox="1"/>
          <p:nvPr>
            <p:ph type="title"/>
          </p:nvPr>
        </p:nvSpPr>
        <p:spPr>
          <a:xfrm>
            <a:off x="490250" y="488250"/>
            <a:ext cx="83604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ro" sz="4000"/>
              <a:t>Thank you for your time!</a:t>
            </a:r>
            <a:endParaRPr b="1" sz="4000"/>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